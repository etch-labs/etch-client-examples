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62"/>
    <p:restoredTop sz="94692"/>
  </p:normalViewPr>
  <p:slideViewPr>
    <p:cSldViewPr snapToGrid="0">
      <p:cViewPr varScale="1">
        <p:scale>
          <a:sx n="102" d="100"/>
          <a:sy n="102" d="100"/>
        </p:scale>
        <p:origin x="21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4110-4570-EB62-CB2A-567C16F7C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FD1E49-77C8-0EAB-BD12-575E20288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943A6-E763-D3C3-172F-F285CB176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A8A5-AA50-AA43-ADC6-088CD15226B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B39D5-C49C-7D4B-9A19-CE5E8BE01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AD482-78CA-D8AE-C60E-E14ECD304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BF543-72E1-5D49-9E4A-0DCF2D1B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56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8333B-AE81-256B-F1D4-DCD2C9FD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9A04C-642F-B715-FA0D-E8A5F670D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C827C-F634-2BF6-12E4-7F55955A5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A8A5-AA50-AA43-ADC6-088CD15226B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4717-1916-B1B5-17CF-BDA13DD40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D65E5-5E32-CAFB-E8E1-E1DCE411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BF543-72E1-5D49-9E4A-0DCF2D1B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09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AC336-3D95-075D-97B7-89E170D1A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30A6C-B84A-1FCC-F08C-F52C58A99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E8653-E282-7D59-5E6B-7113CAD5A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A8A5-AA50-AA43-ADC6-088CD15226B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2D6C0-DB24-CF22-D355-41F844B28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2A391-2C75-7D08-8744-DB2C0884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BF543-72E1-5D49-9E4A-0DCF2D1B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39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82617-6BF2-8AE8-312D-B3C581439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46E31-842D-8C67-311A-EAEEFABC8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A6FDF-C5C2-C7D7-F1D5-8038837CD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E92D8-ED74-8E79-C056-7DBD94736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A8A5-AA50-AA43-ADC6-088CD15226B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DDD63-B1CB-CC1E-6129-A3AE8B792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DAA66-6BF9-007F-D331-1636179B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BF543-72E1-5D49-9E4A-0DCF2D1B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8721B-BB76-F31A-3446-13348D017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79585-EE8E-F5E9-86C8-A360F540D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FF16E-D9AA-71F4-5125-D14A6C9AB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6E597-EB56-DBA0-A396-8C1ED7054D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3B7BAA-D595-A6C1-0564-11936E3061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92C9AD-3ECF-2DD7-86BE-6695F484A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A8A5-AA50-AA43-ADC6-088CD15226B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590A97-9184-0F68-AAA8-5BF291603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F763BE-1909-B123-F04D-6E6B9990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BF543-72E1-5D49-9E4A-0DCF2D1B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6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D0EE0-7DCF-4B6A-3DB0-2C1B1861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E170EC-6389-54A8-3636-F1910B679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A8A5-AA50-AA43-ADC6-088CD15226B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D01DB-DC90-71AD-F023-0438B20D8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64DAB9-8456-FFBC-2D2C-D041863C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BF543-72E1-5D49-9E4A-0DCF2D1B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22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22A4CC-BAF6-1B56-603A-A244326A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A8A5-AA50-AA43-ADC6-088CD15226B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EBF5ED-1D3A-68DE-610E-62E83C3E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D1F6F-8A03-87BC-A7B3-1A54F6EF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BF543-72E1-5D49-9E4A-0DCF2D1B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01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F491-811F-510A-35BB-4024E006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1754B-70D3-BECF-454F-83BCE3172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D83AF-DFE4-14E4-B37E-AEEF48A01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1B6D8-FA61-7605-127E-727313F0D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A8A5-AA50-AA43-ADC6-088CD15226B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FCD6F-A9E4-49C7-DA61-6D8233C41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EA222-A3E3-C63F-74F8-16F0EACD1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BF543-72E1-5D49-9E4A-0DCF2D1B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38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86850-228C-9D51-2E23-D2D11BA34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E07D6D-DC03-F343-57AB-A2BF28CBD91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57FB4-9DC0-604F-6AAB-5D384E6E3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AC5DC-CE27-47D3-FFDC-5E9D5028D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A8A5-AA50-AA43-ADC6-088CD15226B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B7066-AC51-4589-6F76-666EDD098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E6378-777B-65E1-F8AB-80B40FEC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BF543-72E1-5D49-9E4A-0DCF2D1B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30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D879-91BC-E21F-DCDA-DFE43AF5C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73709-E46A-E25D-BA49-76D154973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EB3F2-9A10-B599-FF83-08C655E58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A8A5-AA50-AA43-ADC6-088CD15226B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2F726-81F2-FDCC-8516-3D3F55BB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3782B-E671-25BE-7616-F4036527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BF543-72E1-5D49-9E4A-0DCF2D1B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492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5CB5D-F7DC-1C45-FC41-02360B9F3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CD330-A528-3649-85A8-78C1AD424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68D57-9CC9-D479-F147-820076DB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A8A5-AA50-AA43-ADC6-088CD15226B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947B3-EFD9-FDE8-77A8-3828D42B3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E1153-B34D-3C7A-AEA9-DD7A1218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BF543-72E1-5D49-9E4A-0DCF2D1B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54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62F2BD-DB0B-38CA-443E-E71378A48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0045E-422C-ECF3-4F10-65E04F525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4B68B-A705-034F-217C-3DDB87927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6A8A5-AA50-AA43-ADC6-088CD15226B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39F5A-A795-D687-57EC-DE40F7125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1B6A0-2163-8341-C2A2-F759D67FD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CBF543-72E1-5D49-9E4A-0DCF2D1B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27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B466F-FE40-E5FE-A1AD-A84DE8B0E160}"/>
              </a:ext>
            </a:extLst>
          </p:cNvPr>
          <p:cNvSpPr txBox="1"/>
          <p:nvPr/>
        </p:nvSpPr>
        <p:spPr>
          <a:xfrm>
            <a:off x="822960" y="2011680"/>
            <a:ext cx="105156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5400" b="1" dirty="0">
                <a:solidFill>
                  <a:srgbClr val="1A1917"/>
                </a:solidFill>
                <a:latin typeface="Aptos" panose="020B0004020202020204" pitchFamily="34" charset="0"/>
              </a:rPr>
              <a:t>{{schema}}</a:t>
            </a:r>
          </a:p>
        </p:txBody>
      </p:sp>
      <p:sp>
        <p:nvSpPr>
          <p:cNvPr id="3" name="Shape_0">
            <a:extLst>
              <a:ext uri="{FF2B5EF4-FFF2-40B4-BE49-F238E27FC236}">
                <a16:creationId xmlns:a16="http://schemas.microsoft.com/office/drawing/2014/main" id="{C4439225-B903-3DE1-0592-BCAA0D72A691}"/>
              </a:ext>
            </a:extLst>
          </p:cNvPr>
          <p:cNvSpPr/>
          <p:nvPr/>
        </p:nvSpPr>
        <p:spPr>
          <a:xfrm>
            <a:off x="868680" y="3154680"/>
            <a:ext cx="2011680" cy="38100"/>
          </a:xfrm>
          <a:prstGeom prst="rect">
            <a:avLst/>
          </a:prstGeom>
          <a:solidFill>
            <a:srgbClr val="2F6FB3"/>
          </a:solidFill>
          <a:ln>
            <a:solidFill>
              <a:srgbClr val="2F6F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8916D3-1AAB-86E3-AB30-B1EC1F583E14}"/>
              </a:ext>
            </a:extLst>
          </p:cNvPr>
          <p:cNvSpPr txBox="1"/>
          <p:nvPr/>
        </p:nvSpPr>
        <p:spPr>
          <a:xfrm>
            <a:off x="822960" y="3383280"/>
            <a:ext cx="105156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dirty="0">
                <a:solidFill>
                  <a:srgbClr val="1A1917"/>
                </a:solidFill>
                <a:latin typeface="Aptos" panose="020B0004020202020204" pitchFamily="34" charset="0"/>
              </a:rPr>
              <a:t>Schema documentation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5553C7-7A25-5079-10B9-C425AFA1238D}"/>
              </a:ext>
            </a:extLst>
          </p:cNvPr>
          <p:cNvSpPr txBox="1"/>
          <p:nvPr/>
        </p:nvSpPr>
        <p:spPr>
          <a:xfrm>
            <a:off x="822960" y="3931920"/>
            <a:ext cx="105156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6B6863"/>
                </a:solidFill>
                <a:latin typeface="Aptos" panose="020B0004020202020204" pitchFamily="34" charset="0"/>
              </a:rPr>
              <a:t>{{length tables}} tables · {{generated | date “D MMMM YYYY”}}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3CC81F-89CA-AB5D-0614-C5A8B8D8EFC7}"/>
              </a:ext>
            </a:extLst>
          </p:cNvPr>
          <p:cNvSpPr txBox="1"/>
          <p:nvPr/>
        </p:nvSpPr>
        <p:spPr>
          <a:xfrm>
            <a:off x="822960" y="6035040"/>
            <a:ext cx="105156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dirty="0">
                <a:solidFill>
                  <a:srgbClr val="6B6863"/>
                </a:solidFill>
                <a:latin typeface="Aptos" panose="020B0004020202020204" pitchFamily="34" charset="0"/>
              </a:rPr>
              <a:t>Generated from DBMS_DEVELOPER.GET_METADATA with ETCH, from the SQLcl prompt</a:t>
            </a:r>
          </a:p>
        </p:txBody>
      </p:sp>
    </p:spTree>
    <p:extLst>
      <p:ext uri="{BB962C8B-B14F-4D97-AF65-F5344CB8AC3E}">
        <p14:creationId xmlns:p14="http://schemas.microsoft.com/office/powerpoint/2010/main" val="195580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BA3591-9574-D8A1-9013-01D72F07A31E}"/>
              </a:ext>
            </a:extLst>
          </p:cNvPr>
          <p:cNvSpPr txBox="1"/>
          <p:nvPr/>
        </p:nvSpPr>
        <p:spPr>
          <a:xfrm>
            <a:off x="548640" y="411480"/>
            <a:ext cx="10972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 dirty="0">
                <a:solidFill>
                  <a:srgbClr val="1A1917"/>
                </a:solidFill>
                <a:latin typeface="Aptos" panose="020B0004020202020204" pitchFamily="34" charset="0"/>
              </a:rPr>
              <a:t>The tables at a glance</a:t>
            </a:r>
          </a:p>
        </p:txBody>
      </p:sp>
      <p:sp>
        <p:nvSpPr>
          <p:cNvPr id="3" name="Shape_1">
            <a:extLst>
              <a:ext uri="{FF2B5EF4-FFF2-40B4-BE49-F238E27FC236}">
                <a16:creationId xmlns:a16="http://schemas.microsoft.com/office/drawing/2014/main" id="{E9EED4C4-4442-3904-66AA-76E95B87FB9F}"/>
              </a:ext>
            </a:extLst>
          </p:cNvPr>
          <p:cNvSpPr/>
          <p:nvPr/>
        </p:nvSpPr>
        <p:spPr>
          <a:xfrm>
            <a:off x="594360" y="1097280"/>
            <a:ext cx="1280160" cy="38100"/>
          </a:xfrm>
          <a:prstGeom prst="rect">
            <a:avLst/>
          </a:prstGeom>
          <a:solidFill>
            <a:srgbClr val="2F6FB3"/>
          </a:solidFill>
          <a:ln>
            <a:solidFill>
              <a:srgbClr val="2F6F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F691AA-A933-1AB6-A68A-848457994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81526"/>
              </p:ext>
            </p:extLst>
          </p:nvPr>
        </p:nvGraphicFramePr>
        <p:xfrm>
          <a:off x="548640" y="1417320"/>
          <a:ext cx="11064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>
                  <a:extLst>
                    <a:ext uri="{9D8B030D-6E8A-4147-A177-3AD203B41FA5}">
                      <a16:colId xmlns:a16="http://schemas.microsoft.com/office/drawing/2014/main" val="794790098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3174705238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8960663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892479916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193730836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200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Indexes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Last </a:t>
                      </a:r>
                      <a:r>
                        <a:rPr lang="en-US" sz="1200" dirty="0" err="1"/>
                        <a:t>analysed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3782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 dirty="0"/>
                        <a:t>{{#each tables}}{{</a:t>
                      </a:r>
                      <a:r>
                        <a:rPr lang="en-US" sz="1200" dirty="0" err="1"/>
                        <a:t>metadata.objectInfo.name</a:t>
                      </a:r>
                      <a:r>
                        <a:rPr lang="en-US" sz="1200" dirty="0"/>
                        <a:t>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{{</a:t>
                      </a:r>
                      <a:r>
                        <a:rPr lang="en-US" sz="1200" dirty="0" err="1"/>
                        <a:t>metadata.objectInfo.numRows</a:t>
                      </a:r>
                      <a:r>
                        <a:rPr lang="en-US" sz="1200" dirty="0"/>
                        <a:t> | “–”}}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{{length </a:t>
                      </a:r>
                      <a:r>
                        <a:rPr lang="en-US" sz="1200" dirty="0" err="1"/>
                        <a:t>metadata.objectInfo.columns</a:t>
                      </a:r>
                      <a:r>
                        <a:rPr lang="en-US" sz="1200" dirty="0"/>
                        <a:t>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{{length </a:t>
                      </a:r>
                      <a:r>
                        <a:rPr lang="en-US" sz="1200" dirty="0" err="1"/>
                        <a:t>metadata.objectInfo.indexes</a:t>
                      </a:r>
                      <a:r>
                        <a:rPr lang="en-US" sz="1200" dirty="0"/>
                        <a:t>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{{#if </a:t>
                      </a:r>
                      <a:r>
                        <a:rPr lang="en-US" sz="1200" dirty="0" err="1"/>
                        <a:t>metadata.objectInfo.lastAnalyzed</a:t>
                      </a:r>
                      <a:r>
                        <a:rPr lang="en-US" sz="1200" dirty="0"/>
                        <a:t>}}{{</a:t>
                      </a:r>
                      <a:r>
                        <a:rPr lang="en-US" sz="1200" dirty="0" err="1"/>
                        <a:t>metadata.objectInfo.lastAnalyzed</a:t>
                      </a:r>
                      <a:r>
                        <a:rPr lang="en-US" sz="1200" dirty="0"/>
                        <a:t> | date “D MMM YYYY, </a:t>
                      </a:r>
                      <a:r>
                        <a:rPr lang="en-US" sz="1200" dirty="0" err="1"/>
                        <a:t>HH:mm</a:t>
                      </a:r>
                      <a:r>
                        <a:rPr lang="en-US" sz="1200" dirty="0"/>
                        <a:t>”}}{{else}}never{{/if}}{{/each}}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399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6525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CCC31E-7796-08A6-128B-B95E5CE2567A}"/>
              </a:ext>
            </a:extLst>
          </p:cNvPr>
          <p:cNvSpPr txBox="1"/>
          <p:nvPr/>
        </p:nvSpPr>
        <p:spPr>
          <a:xfrm>
            <a:off x="548640" y="274320"/>
            <a:ext cx="10972800" cy="9848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dirty="0">
                <a:solidFill>
                  <a:srgbClr val="1A1917"/>
                </a:solidFill>
                <a:latin typeface="Aptos" panose="020B0004020202020204" pitchFamily="34" charset="0"/>
              </a:rPr>
              <a:t>{{#slide-each tables}}</a:t>
            </a:r>
          </a:p>
          <a:p>
            <a:r>
              <a:rPr lang="en-US" sz="3000" b="1" dirty="0">
                <a:solidFill>
                  <a:srgbClr val="1A1917"/>
                </a:solidFill>
                <a:latin typeface="Aptos" panose="020B0004020202020204" pitchFamily="34" charset="0"/>
              </a:rPr>
              <a:t>{{</a:t>
            </a:r>
            <a:r>
              <a:rPr lang="en-US" sz="3000" b="1" dirty="0" err="1">
                <a:solidFill>
                  <a:srgbClr val="1A1917"/>
                </a:solidFill>
                <a:latin typeface="Aptos" panose="020B0004020202020204" pitchFamily="34" charset="0"/>
              </a:rPr>
              <a:t>metadata.objectInfo.name</a:t>
            </a:r>
            <a:r>
              <a:rPr lang="en-US" sz="3000" b="1" dirty="0">
                <a:solidFill>
                  <a:srgbClr val="1A1917"/>
                </a:solidFill>
                <a:latin typeface="Aptos" panose="020B0004020202020204" pitchFamily="34" charset="0"/>
              </a:rPr>
              <a:t>}}</a:t>
            </a:r>
          </a:p>
          <a:p>
            <a:r>
              <a:rPr lang="en-US" sz="1400" dirty="0">
                <a:solidFill>
                  <a:srgbClr val="1A1917"/>
                </a:solidFill>
                <a:latin typeface="Aptos" panose="020B0004020202020204" pitchFamily="34" charset="0"/>
              </a:rPr>
              <a:t>{{/slide-each}}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22376D-9AD3-6951-05C6-D2A31C9A23ED}"/>
              </a:ext>
            </a:extLst>
          </p:cNvPr>
          <p:cNvSpPr txBox="1"/>
          <p:nvPr/>
        </p:nvSpPr>
        <p:spPr>
          <a:xfrm>
            <a:off x="548640" y="1234440"/>
            <a:ext cx="109728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dirty="0">
                <a:solidFill>
                  <a:srgbClr val="6B6863"/>
                </a:solidFill>
                <a:latin typeface="Aptos" panose="020B0004020202020204" pitchFamily="34" charset="0"/>
              </a:rPr>
              <a:t>{{#if comment}}{{comment}}{{/if}}</a:t>
            </a:r>
          </a:p>
        </p:txBody>
      </p:sp>
      <p:sp>
        <p:nvSpPr>
          <p:cNvPr id="4" name="Shape_2">
            <a:extLst>
              <a:ext uri="{FF2B5EF4-FFF2-40B4-BE49-F238E27FC236}">
                <a16:creationId xmlns:a16="http://schemas.microsoft.com/office/drawing/2014/main" id="{AF4108B2-9625-C378-9FAF-2348AF96B3B1}"/>
              </a:ext>
            </a:extLst>
          </p:cNvPr>
          <p:cNvSpPr/>
          <p:nvPr/>
        </p:nvSpPr>
        <p:spPr>
          <a:xfrm>
            <a:off x="594360" y="1691640"/>
            <a:ext cx="1280160" cy="38100"/>
          </a:xfrm>
          <a:prstGeom prst="rect">
            <a:avLst/>
          </a:prstGeom>
          <a:solidFill>
            <a:srgbClr val="2F6FB3"/>
          </a:solidFill>
          <a:ln>
            <a:solidFill>
              <a:srgbClr val="2F6F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20D79-6107-450E-419C-754FE5FEFDF5}"/>
              </a:ext>
            </a:extLst>
          </p:cNvPr>
          <p:cNvSpPr txBox="1"/>
          <p:nvPr/>
        </p:nvSpPr>
        <p:spPr>
          <a:xfrm>
            <a:off x="548640" y="1783080"/>
            <a:ext cx="6858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 dirty="0">
                <a:solidFill>
                  <a:srgbClr val="2F6FB3"/>
                </a:solidFill>
                <a:latin typeface="Aptos" panose="020B0004020202020204" pitchFamily="34" charset="0"/>
              </a:rPr>
              <a:t>Columns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71CBF5-87FD-F1A3-720C-A236FDA25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504377"/>
              </p:ext>
            </p:extLst>
          </p:nvPr>
        </p:nvGraphicFramePr>
        <p:xfrm>
          <a:off x="548640" y="2148840"/>
          <a:ext cx="694944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634446646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95992575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1453684559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10218846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100" dirty="0"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Nulls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8551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100" dirty="0"/>
                        <a:t>{{#each </a:t>
                      </a:r>
                      <a:r>
                        <a:rPr lang="en-US" sz="1100" dirty="0" err="1"/>
                        <a:t>metadata.objectInfo.columns</a:t>
                      </a:r>
                      <a:r>
                        <a:rPr lang="en-US" sz="1100" dirty="0"/>
                        <a:t>}}{{name}}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{{</a:t>
                      </a:r>
                      <a:r>
                        <a:rPr lang="en-US" sz="1100" dirty="0" err="1"/>
                        <a:t>dataType.type</a:t>
                      </a:r>
                      <a:r>
                        <a:rPr lang="en-US" sz="1100" dirty="0"/>
                        <a:t>}}{{#if </a:t>
                      </a:r>
                      <a:r>
                        <a:rPr lang="en-US" sz="1100" dirty="0" err="1"/>
                        <a:t>dataType.length</a:t>
                      </a:r>
                      <a:r>
                        <a:rPr lang="en-US" sz="1100" dirty="0"/>
                        <a:t>}}({{</a:t>
                      </a:r>
                      <a:r>
                        <a:rPr lang="en-US" sz="1100" dirty="0" err="1"/>
                        <a:t>dataType.length</a:t>
                      </a:r>
                      <a:r>
                        <a:rPr lang="en-US" sz="1100" dirty="0"/>
                        <a:t>}}){{/if}}{{#if </a:t>
                      </a:r>
                      <a:r>
                        <a:rPr lang="en-US" sz="1100" dirty="0" err="1"/>
                        <a:t>dataType.precision</a:t>
                      </a:r>
                      <a:r>
                        <a:rPr lang="en-US" sz="1100" dirty="0"/>
                        <a:t>}}({{</a:t>
                      </a:r>
                      <a:r>
                        <a:rPr lang="en-US" sz="1100" dirty="0" err="1"/>
                        <a:t>dataType.precision</a:t>
                      </a:r>
                      <a:r>
                        <a:rPr lang="en-US" sz="1100" dirty="0"/>
                        <a:t>}}{{#if </a:t>
                      </a:r>
                      <a:r>
                        <a:rPr lang="en-US" sz="1100" dirty="0" err="1"/>
                        <a:t>dataType.scale</a:t>
                      </a:r>
                      <a:r>
                        <a:rPr lang="en-US" sz="1100" dirty="0"/>
                        <a:t>}},{{</a:t>
                      </a:r>
                      <a:r>
                        <a:rPr lang="en-US" sz="1100" dirty="0" err="1"/>
                        <a:t>dataType.scale</a:t>
                      </a:r>
                      <a:r>
                        <a:rPr lang="en-US" sz="1100" dirty="0"/>
                        <a:t>}}{{/if}}){{/if}}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{{#if </a:t>
                      </a:r>
                      <a:r>
                        <a:rPr lang="en-US" sz="1100" dirty="0" err="1"/>
                        <a:t>notNull</a:t>
                      </a:r>
                      <a:r>
                        <a:rPr lang="en-US" sz="1100" dirty="0"/>
                        <a:t>}}NOT NULL{{/if}}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{{#if </a:t>
                      </a:r>
                      <a:r>
                        <a:rPr lang="en-US" sz="1100" dirty="0" err="1"/>
                        <a:t>isPk</a:t>
                      </a:r>
                      <a:r>
                        <a:rPr lang="en-US" sz="1100" dirty="0"/>
                        <a:t>}}PK {{/if}}{{#if </a:t>
                      </a:r>
                      <a:r>
                        <a:rPr lang="en-US" sz="1100" dirty="0" err="1"/>
                        <a:t>isFk</a:t>
                      </a:r>
                      <a:r>
                        <a:rPr lang="en-US" sz="1100" dirty="0"/>
                        <a:t>}}FK{{/if}}{{/each}}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2360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0A3D03E-BFBF-03E6-B59B-5553D2DF70ED}"/>
              </a:ext>
            </a:extLst>
          </p:cNvPr>
          <p:cNvSpPr txBox="1"/>
          <p:nvPr/>
        </p:nvSpPr>
        <p:spPr>
          <a:xfrm>
            <a:off x="7955280" y="1783080"/>
            <a:ext cx="374904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 dirty="0">
                <a:solidFill>
                  <a:srgbClr val="2F6FB3"/>
                </a:solidFill>
                <a:latin typeface="Aptos" panose="020B0004020202020204" pitchFamily="34" charset="0"/>
              </a:rPr>
              <a:t>Statistics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36A1E6-69A6-20DF-C873-A1037D44ED97}"/>
              </a:ext>
            </a:extLst>
          </p:cNvPr>
          <p:cNvSpPr txBox="1"/>
          <p:nvPr/>
        </p:nvSpPr>
        <p:spPr>
          <a:xfrm>
            <a:off x="7955280" y="2148840"/>
            <a:ext cx="3749040" cy="14927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dirty="0">
                <a:solidFill>
                  <a:srgbClr val="1A1917"/>
                </a:solidFill>
                <a:latin typeface="Aptos" panose="020B0004020202020204" pitchFamily="34" charset="0"/>
              </a:rPr>
              <a:t>Rows: {{</a:t>
            </a:r>
            <a:r>
              <a:rPr lang="en-US" sz="1300" dirty="0" err="1">
                <a:solidFill>
                  <a:srgbClr val="1A1917"/>
                </a:solidFill>
                <a:latin typeface="Aptos" panose="020B0004020202020204" pitchFamily="34" charset="0"/>
              </a:rPr>
              <a:t>metadata.objectInfo.numRows</a:t>
            </a:r>
            <a:r>
              <a:rPr lang="en-US" sz="1300" dirty="0">
                <a:solidFill>
                  <a:srgbClr val="1A1917"/>
                </a:solidFill>
                <a:latin typeface="Aptos" panose="020B0004020202020204" pitchFamily="34" charset="0"/>
              </a:rPr>
              <a:t> | “–”}}</a:t>
            </a:r>
          </a:p>
          <a:p>
            <a:r>
              <a:rPr lang="en-US" sz="1300" dirty="0">
                <a:solidFill>
                  <a:srgbClr val="1A1917"/>
                </a:solidFill>
                <a:latin typeface="Aptos" panose="020B0004020202020204" pitchFamily="34" charset="0"/>
              </a:rPr>
              <a:t>Average row: {{</a:t>
            </a:r>
            <a:r>
              <a:rPr lang="en-US" sz="1300" dirty="0" err="1">
                <a:solidFill>
                  <a:srgbClr val="1A1917"/>
                </a:solidFill>
                <a:latin typeface="Aptos" panose="020B0004020202020204" pitchFamily="34" charset="0"/>
              </a:rPr>
              <a:t>metadata.objectInfo.avgRowLen</a:t>
            </a:r>
            <a:r>
              <a:rPr lang="en-US" sz="1300" dirty="0">
                <a:solidFill>
                  <a:srgbClr val="1A1917"/>
                </a:solidFill>
                <a:latin typeface="Aptos" panose="020B0004020202020204" pitchFamily="34" charset="0"/>
              </a:rPr>
              <a:t> | “–”}} bytes</a:t>
            </a:r>
          </a:p>
          <a:p>
            <a:r>
              <a:rPr lang="en-US" sz="1300" dirty="0" err="1">
                <a:solidFill>
                  <a:srgbClr val="1A1917"/>
                </a:solidFill>
                <a:latin typeface="Aptos" panose="020B0004020202020204" pitchFamily="34" charset="0"/>
              </a:rPr>
              <a:t>Last analysed</a:t>
            </a:r>
            <a:r>
              <a:rPr lang="en-US" sz="1300" dirty="0">
                <a:solidFill>
                  <a:srgbClr val="1A1917"/>
                </a:solidFill>
                <a:latin typeface="Aptos" panose="020B0004020202020204" pitchFamily="34" charset="0"/>
              </a:rPr>
              <a:t>: {{#if </a:t>
            </a:r>
            <a:r>
              <a:rPr lang="en-US" sz="1300" dirty="0" err="1">
                <a:solidFill>
                  <a:srgbClr val="1A1917"/>
                </a:solidFill>
                <a:latin typeface="Aptos" panose="020B0004020202020204" pitchFamily="34" charset="0"/>
              </a:rPr>
              <a:t>metadata.objectInfo.lastAnalyzed</a:t>
            </a:r>
            <a:r>
              <a:rPr lang="en-US" sz="1300" dirty="0">
                <a:solidFill>
                  <a:srgbClr val="1A1917"/>
                </a:solidFill>
                <a:latin typeface="Aptos" panose="020B0004020202020204" pitchFamily="34" charset="0"/>
              </a:rPr>
              <a:t>}}{{</a:t>
            </a:r>
            <a:r>
              <a:rPr lang="en-US" sz="1300" dirty="0" err="1">
                <a:solidFill>
                  <a:srgbClr val="1A1917"/>
                </a:solidFill>
                <a:latin typeface="Aptos" panose="020B0004020202020204" pitchFamily="34" charset="0"/>
              </a:rPr>
              <a:t>metadata.objectInfo.lastAnalyzed</a:t>
            </a:r>
            <a:r>
              <a:rPr lang="en-US" sz="1300" dirty="0">
                <a:solidFill>
                  <a:srgbClr val="1A1917"/>
                </a:solidFill>
                <a:latin typeface="Aptos" panose="020B0004020202020204" pitchFamily="34" charset="0"/>
              </a:rPr>
              <a:t> | date “D MMM YYYY, </a:t>
            </a:r>
            <a:r>
              <a:rPr lang="en-US" sz="1300" dirty="0" err="1">
                <a:solidFill>
                  <a:srgbClr val="1A1917"/>
                </a:solidFill>
                <a:latin typeface="Aptos" panose="020B0004020202020204" pitchFamily="34" charset="0"/>
              </a:rPr>
              <a:t>HH:mm</a:t>
            </a:r>
            <a:r>
              <a:rPr lang="en-US" sz="1300" dirty="0">
                <a:solidFill>
                  <a:srgbClr val="1A1917"/>
                </a:solidFill>
                <a:latin typeface="Aptos" panose="020B0004020202020204" pitchFamily="34" charset="0"/>
              </a:rPr>
              <a:t>”}}{{else}}never{{/if}}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4AEB04-7A66-DC10-3D3C-3445DB848565}"/>
              </a:ext>
            </a:extLst>
          </p:cNvPr>
          <p:cNvSpPr txBox="1"/>
          <p:nvPr/>
        </p:nvSpPr>
        <p:spPr>
          <a:xfrm>
            <a:off x="7955280" y="3566160"/>
            <a:ext cx="374904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 dirty="0">
                <a:solidFill>
                  <a:srgbClr val="2F6FB3"/>
                </a:solidFill>
                <a:latin typeface="Aptos" panose="020B0004020202020204" pitchFamily="34" charset="0"/>
              </a:rPr>
              <a:t>Keys and constraints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0DFC6A-5BDA-CD2D-FC97-9D67C245C871}"/>
              </a:ext>
            </a:extLst>
          </p:cNvPr>
          <p:cNvSpPr txBox="1"/>
          <p:nvPr/>
        </p:nvSpPr>
        <p:spPr>
          <a:xfrm>
            <a:off x="7955280" y="3931920"/>
            <a:ext cx="3749040" cy="9387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dirty="0">
                <a:solidFill>
                  <a:srgbClr val="1A1917"/>
                </a:solidFill>
                <a:latin typeface="Aptos" panose="020B0004020202020204" pitchFamily="34" charset="0"/>
              </a:rPr>
              <a:t>{{#each </a:t>
            </a:r>
            <a:r>
              <a:rPr lang="en-US" sz="1100" dirty="0" err="1">
                <a:solidFill>
                  <a:srgbClr val="1A1917"/>
                </a:solidFill>
                <a:latin typeface="Aptos" panose="020B0004020202020204" pitchFamily="34" charset="0"/>
              </a:rPr>
              <a:t>metadata.objectInfo.constraints</a:t>
            </a:r>
            <a:r>
              <a:rPr lang="en-US" sz="1100" dirty="0">
                <a:solidFill>
                  <a:srgbClr val="1A1917"/>
                </a:solidFill>
                <a:latin typeface="Aptos" panose="020B0004020202020204" pitchFamily="34" charset="0"/>
              </a:rPr>
              <a:t> | filter </a:t>
            </a:r>
            <a:r>
              <a:rPr lang="en-US" sz="1100" dirty="0" err="1">
                <a:solidFill>
                  <a:srgbClr val="1A1917"/>
                </a:solidFill>
                <a:latin typeface="Aptos" panose="020B0004020202020204" pitchFamily="34" charset="0"/>
              </a:rPr>
              <a:t>constraintType</a:t>
            </a:r>
            <a:r>
              <a:rPr lang="en-US" sz="1100" dirty="0">
                <a:solidFill>
                  <a:srgbClr val="1A1917"/>
                </a:solidFill>
                <a:latin typeface="Aptos" panose="020B0004020202020204" pitchFamily="34" charset="0"/>
              </a:rPr>
              <a:t>!=“CHECK - NOT NULL”}}</a:t>
            </a:r>
          </a:p>
          <a:p>
            <a:r>
              <a:rPr lang="en-US" sz="1100" dirty="0">
                <a:solidFill>
                  <a:srgbClr val="1A1917"/>
                </a:solidFill>
                <a:latin typeface="Aptos" panose="020B0004020202020204" pitchFamily="34" charset="0"/>
              </a:rPr>
              <a:t>{{name}} · {{#if </a:t>
            </a:r>
            <a:r>
              <a:rPr lang="en-US" sz="1100" dirty="0" err="1">
                <a:solidFill>
                  <a:srgbClr val="1A1917"/>
                </a:solidFill>
                <a:latin typeface="Aptos" panose="020B0004020202020204" pitchFamily="34" charset="0"/>
              </a:rPr>
              <a:t>referencedTable</a:t>
            </a:r>
            <a:r>
              <a:rPr lang="en-US" sz="1100" dirty="0">
                <a:solidFill>
                  <a:srgbClr val="1A1917"/>
                </a:solidFill>
                <a:latin typeface="Aptos" panose="020B0004020202020204" pitchFamily="34" charset="0"/>
              </a:rPr>
              <a:t>}}FK → {{</a:t>
            </a:r>
            <a:r>
              <a:rPr lang="en-US" sz="1100" dirty="0" err="1">
                <a:solidFill>
                  <a:srgbClr val="1A1917"/>
                </a:solidFill>
                <a:latin typeface="Aptos" panose="020B0004020202020204" pitchFamily="34" charset="0"/>
              </a:rPr>
              <a:t>referencedTable</a:t>
            </a:r>
            <a:r>
              <a:rPr lang="en-US" sz="1100" dirty="0">
                <a:solidFill>
                  <a:srgbClr val="1A1917"/>
                </a:solidFill>
                <a:latin typeface="Aptos" panose="020B0004020202020204" pitchFamily="34" charset="0"/>
              </a:rPr>
              <a:t>}}{{else}}{{</a:t>
            </a:r>
            <a:r>
              <a:rPr lang="en-US" sz="1100" dirty="0" err="1">
                <a:solidFill>
                  <a:srgbClr val="1A1917"/>
                </a:solidFill>
                <a:latin typeface="Aptos" panose="020B0004020202020204" pitchFamily="34" charset="0"/>
              </a:rPr>
              <a:t>constraintType</a:t>
            </a:r>
            <a:r>
              <a:rPr lang="en-US" sz="1100" dirty="0">
                <a:solidFill>
                  <a:srgbClr val="1A1917"/>
                </a:solidFill>
                <a:latin typeface="Aptos" panose="020B0004020202020204" pitchFamily="34" charset="0"/>
              </a:rPr>
              <a:t>}}{{/if}}</a:t>
            </a:r>
          </a:p>
          <a:p>
            <a:r>
              <a:rPr lang="en-US" sz="1100" dirty="0">
                <a:solidFill>
                  <a:srgbClr val="1A1917"/>
                </a:solidFill>
                <a:latin typeface="Aptos" panose="020B0004020202020204" pitchFamily="34" charset="0"/>
              </a:rPr>
              <a:t>{{/each}}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2BEA2C-41A9-0462-940D-05FABEDD4D16}"/>
              </a:ext>
            </a:extLst>
          </p:cNvPr>
          <p:cNvSpPr txBox="1"/>
          <p:nvPr/>
        </p:nvSpPr>
        <p:spPr>
          <a:xfrm>
            <a:off x="7955280" y="5257800"/>
            <a:ext cx="374904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 dirty="0">
                <a:solidFill>
                  <a:srgbClr val="2F6FB3"/>
                </a:solidFill>
                <a:latin typeface="Aptos" panose="020B0004020202020204" pitchFamily="34" charset="0"/>
              </a:rPr>
              <a:t>Indexes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0F52CB-C00D-B2B6-4A32-6A843C73529C}"/>
              </a:ext>
            </a:extLst>
          </p:cNvPr>
          <p:cNvSpPr txBox="1"/>
          <p:nvPr/>
        </p:nvSpPr>
        <p:spPr>
          <a:xfrm>
            <a:off x="7955280" y="5623560"/>
            <a:ext cx="374904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dirty="0">
                <a:solidFill>
                  <a:srgbClr val="1A1917"/>
                </a:solidFill>
                <a:latin typeface="Aptos" panose="020B0004020202020204" pitchFamily="34" charset="0"/>
              </a:rPr>
              <a:t>{{#each </a:t>
            </a:r>
            <a:r>
              <a:rPr lang="en-US" sz="1100" dirty="0" err="1">
                <a:solidFill>
                  <a:srgbClr val="1A1917"/>
                </a:solidFill>
                <a:latin typeface="Aptos" panose="020B0004020202020204" pitchFamily="34" charset="0"/>
              </a:rPr>
              <a:t>metadata.objectInfo.indexes</a:t>
            </a:r>
            <a:r>
              <a:rPr lang="en-US" sz="1100" dirty="0">
                <a:solidFill>
                  <a:srgbClr val="1A1917"/>
                </a:solidFill>
                <a:latin typeface="Aptos" panose="020B0004020202020204" pitchFamily="34" charset="0"/>
              </a:rPr>
              <a:t>}}</a:t>
            </a:r>
          </a:p>
          <a:p>
            <a:r>
              <a:rPr lang="en-US" sz="1100" dirty="0">
                <a:solidFill>
                  <a:srgbClr val="1A1917"/>
                </a:solidFill>
                <a:latin typeface="Aptos" panose="020B0004020202020204" pitchFamily="34" charset="0"/>
              </a:rPr>
              <a:t>{{name}} · {{uniqueness}}</a:t>
            </a:r>
          </a:p>
          <a:p>
            <a:r>
              <a:rPr lang="en-US" sz="1100">
                <a:solidFill>
                  <a:srgbClr val="1A1917"/>
                </a:solidFill>
                <a:latin typeface="Aptos" panose="020B0004020202020204" pitchFamily="34" charset="0"/>
              </a:rPr>
              <a:t>{{/each}}</a:t>
            </a:r>
            <a:endParaRPr lang="en-US" sz="1100" dirty="0">
              <a:solidFill>
                <a:srgbClr val="1A191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033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ETCH Labs</dc:creator>
  <cp:lastModifiedBy>ETCH Labs</cp:lastModifiedBy>
</cp:coreProperties>
</file>